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2"/>
    <p:sldId id="359" r:id="rId3"/>
    <p:sldId id="360" r:id="rId4"/>
    <p:sldId id="361" r:id="rId5"/>
    <p:sldId id="352" r:id="rId6"/>
    <p:sldId id="353" r:id="rId7"/>
    <p:sldId id="354" r:id="rId8"/>
    <p:sldId id="317" r:id="rId9"/>
    <p:sldId id="355" r:id="rId10"/>
    <p:sldId id="319" r:id="rId11"/>
    <p:sldId id="356" r:id="rId12"/>
    <p:sldId id="357" r:id="rId13"/>
    <p:sldId id="322" r:id="rId14"/>
    <p:sldId id="326" r:id="rId15"/>
    <p:sldId id="337" r:id="rId16"/>
    <p:sldId id="338" r:id="rId17"/>
    <p:sldId id="339" r:id="rId18"/>
    <p:sldId id="340" r:id="rId19"/>
    <p:sldId id="346" r:id="rId20"/>
    <p:sldId id="329" r:id="rId21"/>
    <p:sldId id="341" r:id="rId22"/>
    <p:sldId id="342" r:id="rId23"/>
    <p:sldId id="343" r:id="rId24"/>
    <p:sldId id="345" r:id="rId25"/>
    <p:sldId id="362" r:id="rId26"/>
    <p:sldId id="363" r:id="rId27"/>
    <p:sldId id="364" r:id="rId28"/>
    <p:sldId id="365" r:id="rId29"/>
    <p:sldId id="366" r:id="rId30"/>
    <p:sldId id="367" r:id="rId31"/>
    <p:sldId id="368" r:id="rId32"/>
    <p:sldId id="369" r:id="rId33"/>
    <p:sldId id="370" r:id="rId34"/>
    <p:sldId id="30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umar RG" initials="K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62"/>
      </p:cViewPr>
      <p:guideLst>
        <p:guide orient="horz" pos="215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Title 1"/>
          <p:cNvSpPr>
            <a:spLocks noGrp="1"/>
          </p:cNvSpPr>
          <p:nvPr>
            <p:ph type="title"/>
          </p:nvPr>
        </p:nvSpPr>
        <p:spPr>
          <a:xfrm>
            <a:off x="1828800" y="0"/>
            <a:ext cx="8305800" cy="944562"/>
          </a:xfrm>
        </p:spPr>
        <p:txBody>
          <a:bodyPr>
            <a:normAutofit fontScale="90000"/>
          </a:bodyPr>
          <a:lstStyle/>
          <a:p>
            <a:r>
              <a:rPr lang="en-US" sz="24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SIDDARTHA INSTITUTE OF SCIENCE AND TECHNOLOGY</a:t>
            </a:r>
            <a:br>
              <a:rPr lang="en-US" sz="24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(AUTONOMOUS)</a:t>
            </a:r>
          </a:p>
        </p:txBody>
      </p:sp>
      <p:sp>
        <p:nvSpPr>
          <p:cNvPr id="1048586" name="Title 1"/>
          <p:cNvSpPr txBox="1"/>
          <p:nvPr/>
        </p:nvSpPr>
        <p:spPr>
          <a:xfrm>
            <a:off x="2514600" y="3276600"/>
            <a:ext cx="4114800" cy="2438400"/>
          </a:xfrm>
          <a:prstGeom prst="rect">
            <a:avLst/>
          </a:prstGeom>
        </p:spPr>
        <p:txBody>
          <a:bodyPr vert="horz" lIns="91440" tIns="45720" rIns="91440" bIns="45720" rtlCol="0" anchor="ctr">
            <a:normAutofit/>
          </a:bodyPr>
          <a:lstStyle/>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lang="en-US" sz="7400" dirty="0">
              <a:latin typeface="Times New Roman" panose="02020603050405020304" pitchFamily="18" charset="0"/>
              <a:ea typeface="+mj-ea"/>
              <a:cs typeface="Times New Roman" panose="02020603050405020304" pitchFamily="18" charset="0"/>
            </a:endParaRPr>
          </a:p>
          <a:p>
            <a:pPr marL="0" marR="0" lvl="0" indent="0" defTabSz="914400" rtl="0" eaLnBrk="1" fontAlgn="auto" latinLnBrk="0" hangingPunct="1">
              <a:lnSpc>
                <a:spcPct val="100000"/>
              </a:lnSpc>
              <a:spcBef>
                <a:spcPct val="0"/>
              </a:spcBef>
              <a:spcAft>
                <a:spcPts val="0"/>
              </a:spcAft>
              <a:buClrTx/>
              <a:buSzTx/>
              <a:buFontTx/>
              <a:buNone/>
            </a:pPr>
            <a:endParaRPr kumimoji="0" lang="en-US" sz="4400" b="0" i="0" u="none" strike="noStrike" kern="1200" cap="none"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pic>
        <p:nvPicPr>
          <p:cNvPr id="2097152" name="Picture 2" descr="Siddharth Institute of Engineering &amp; Technology - [SIETK], Puttur -  Admissions, Contact, Website, Facilities 2021-2022"/>
          <p:cNvPicPr>
            <a:picLocks noChangeAspect="1" noChangeArrowheads="1"/>
          </p:cNvPicPr>
          <p:nvPr/>
        </p:nvPicPr>
        <p:blipFill>
          <a:blip r:embed="rId2" cstate="print"/>
          <a:srcRect/>
          <a:stretch>
            <a:fillRect/>
          </a:stretch>
        </p:blipFill>
        <p:spPr bwMode="auto">
          <a:xfrm>
            <a:off x="1828800" y="533400"/>
            <a:ext cx="1142999" cy="1152525"/>
          </a:xfrm>
          <a:prstGeom prst="rect">
            <a:avLst/>
          </a:prstGeom>
          <a:noFill/>
        </p:spPr>
      </p:pic>
      <p:sp>
        <p:nvSpPr>
          <p:cNvPr id="1048587" name="Rectangle 8"/>
          <p:cNvSpPr/>
          <p:nvPr/>
        </p:nvSpPr>
        <p:spPr>
          <a:xfrm>
            <a:off x="1649095" y="1504950"/>
            <a:ext cx="9472930" cy="1445260"/>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                                                                       </a:t>
            </a:r>
          </a:p>
          <a:p>
            <a:pPr algn="ctr"/>
            <a:r>
              <a:rPr lang="en-US" sz="2400" b="1" dirty="0">
                <a:solidFill>
                  <a:srgbClr val="00B0F0"/>
                </a:solidFill>
                <a:latin typeface="Times New Roman" panose="02020603050405020304" pitchFamily="18" charset="0"/>
                <a:cs typeface="Times New Roman" panose="02020603050405020304" pitchFamily="18" charset="0"/>
              </a:rPr>
              <a:t>Title of Project: </a:t>
            </a:r>
            <a:r>
              <a:rPr lang="en-US" altLang="en-US" sz="2000" b="1" dirty="0">
                <a:latin typeface="Times New Roman" panose="02020603050405020304" pitchFamily="18" charset="0"/>
                <a:cs typeface="Times New Roman" panose="02020603050405020304" pitchFamily="18" charset="0"/>
                <a:sym typeface="+mn-ea"/>
              </a:rPr>
              <a:t>Blockchain-Based Digital Certificate Generation and Verification System</a:t>
            </a:r>
            <a:endParaRPr lang="en-US" altLang="en-US" sz="2000" b="1" dirty="0">
              <a:latin typeface="Times New Roman" panose="02020603050405020304" pitchFamily="18" charset="0"/>
              <a:cs typeface="Times New Roman" panose="02020603050405020304" pitchFamily="18" charset="0"/>
            </a:endParaRPr>
          </a:p>
          <a:p>
            <a:pPr algn="ctr"/>
            <a:r>
              <a:rPr lang="en-US" sz="2800" b="1" dirty="0">
                <a:solidFill>
                  <a:srgbClr val="FF0000"/>
                </a:solidFill>
                <a:latin typeface="Times New Roman" panose="02020603050405020304" pitchFamily="18" charset="0"/>
                <a:cs typeface="Times New Roman" panose="02020603050405020304" pitchFamily="18" charset="0"/>
              </a:rPr>
              <a:t>                     </a:t>
            </a:r>
            <a:endParaRPr lang="en-US" sz="2800" b="1" dirty="0">
              <a:solidFill>
                <a:srgbClr val="FF0000"/>
              </a:solidFill>
            </a:endParaRPr>
          </a:p>
        </p:txBody>
      </p:sp>
      <p:sp>
        <p:nvSpPr>
          <p:cNvPr id="1048588" name="Rectangle 11"/>
          <p:cNvSpPr/>
          <p:nvPr/>
        </p:nvSpPr>
        <p:spPr>
          <a:xfrm>
            <a:off x="3314700" y="1080519"/>
            <a:ext cx="5562600" cy="368300"/>
          </a:xfrm>
          <a:prstGeom prst="rect">
            <a:avLst/>
          </a:prstGeom>
        </p:spPr>
        <p:txBody>
          <a:bodyPr wrap="square">
            <a:spAutoFit/>
          </a:bodyPr>
          <a:lstStyle/>
          <a:p>
            <a:pPr lvl="0" algn="ctr">
              <a:spcBef>
                <a:spcPct val="0"/>
              </a:spcBef>
            </a:pPr>
            <a:r>
              <a:rPr lang="en-US" b="1" dirty="0">
                <a:latin typeface="Times New Roman" panose="02020603050405020304" pitchFamily="18" charset="0"/>
                <a:cs typeface="Times New Roman" panose="02020603050405020304" pitchFamily="18" charset="0"/>
              </a:rPr>
              <a:t>Department of Computer Science and Engineering</a:t>
            </a:r>
          </a:p>
        </p:txBody>
      </p:sp>
      <p:sp>
        <p:nvSpPr>
          <p:cNvPr id="1048589" name="TextBox 12"/>
          <p:cNvSpPr txBox="1"/>
          <p:nvPr/>
        </p:nvSpPr>
        <p:spPr>
          <a:xfrm>
            <a:off x="2493264" y="2615129"/>
            <a:ext cx="7205472" cy="2585323"/>
          </a:xfrm>
          <a:prstGeom prst="rect">
            <a:avLst/>
          </a:prstGeom>
          <a:noFill/>
        </p:spPr>
        <p:txBody>
          <a:bodyPr wrap="square" rtlCol="0">
            <a:spAutoFit/>
          </a:bodyPr>
          <a:lstStyle/>
          <a:p>
            <a:pPr algn="ctr"/>
            <a:r>
              <a:rPr lang="en-US" sz="2400" u="sng" dirty="0">
                <a:latin typeface="Times New Roman" panose="02020603050405020304" pitchFamily="18" charset="0"/>
                <a:cs typeface="Times New Roman" panose="02020603050405020304" pitchFamily="18" charset="0"/>
              </a:rPr>
              <a:t>Presented  by</a:t>
            </a:r>
          </a:p>
          <a:p>
            <a:pPr fontAlgn="t"/>
            <a:endParaRPr lang="en-US" sz="2400" dirty="0"/>
          </a:p>
          <a:p>
            <a:pPr algn="just" fontAlgn="t"/>
            <a:r>
              <a:rPr lang="en-IN" dirty="0">
                <a:latin typeface="Times New Roman" panose="02020603050405020304" pitchFamily="18" charset="0"/>
                <a:cs typeface="Times New Roman" panose="02020603050405020304" pitchFamily="18" charset="0"/>
              </a:rPr>
              <a:t>THUPAKULA LEENA SRI 		                              224E1A3357</a:t>
            </a:r>
          </a:p>
          <a:p>
            <a:pPr algn="just" fontAlgn="t"/>
            <a:r>
              <a:rPr lang="en-IN" dirty="0">
                <a:latin typeface="Times New Roman" panose="02020603050405020304" pitchFamily="18" charset="0"/>
                <a:cs typeface="Times New Roman" panose="02020603050405020304" pitchFamily="18" charset="0"/>
              </a:rPr>
              <a:t>KASHINACHINNA NARASIMHA REDDY                     224E1A3312</a:t>
            </a:r>
          </a:p>
          <a:p>
            <a:pPr algn="just" fontAlgn="t"/>
            <a:r>
              <a:rPr lang="en-IN" dirty="0">
                <a:latin typeface="Times New Roman" panose="02020603050405020304" pitchFamily="18" charset="0"/>
                <a:cs typeface="Times New Roman" panose="02020603050405020304" pitchFamily="18" charset="0"/>
              </a:rPr>
              <a:t>NIMMAKAYALA KETHANA 		              224E1A3349</a:t>
            </a:r>
          </a:p>
          <a:p>
            <a:pPr algn="just" fontAlgn="t"/>
            <a:r>
              <a:rPr lang="en-IN" dirty="0">
                <a:latin typeface="Times New Roman" panose="02020603050405020304" pitchFamily="18" charset="0"/>
                <a:cs typeface="Times New Roman" panose="02020603050405020304" pitchFamily="18" charset="0"/>
              </a:rPr>
              <a:t>DWARAKACHARLA GURU PRASANTH REDDY        224E1A3323</a:t>
            </a:r>
          </a:p>
          <a:p>
            <a:pPr algn="just" fontAlgn="t"/>
            <a:r>
              <a:rPr lang="en-IN" dirty="0">
                <a:latin typeface="Times New Roman" panose="02020603050405020304" pitchFamily="18" charset="0"/>
                <a:cs typeface="Times New Roman" panose="02020603050405020304" pitchFamily="18" charset="0"/>
              </a:rPr>
              <a:t>KOLLATHURU LAVANYA 		                              224E1A3354</a:t>
            </a:r>
          </a:p>
          <a:p>
            <a:pPr algn="ctr"/>
            <a:endParaRPr lang="en-US" sz="2400" dirty="0">
              <a:latin typeface="Times New Roman" panose="02020603050405020304" pitchFamily="18" charset="0"/>
              <a:cs typeface="Times New Roman" panose="02020603050405020304" pitchFamily="18" charset="0"/>
            </a:endParaRPr>
          </a:p>
        </p:txBody>
      </p:sp>
      <p:sp>
        <p:nvSpPr>
          <p:cNvPr id="1048590" name="TextBox 15"/>
          <p:cNvSpPr txBox="1"/>
          <p:nvPr/>
        </p:nvSpPr>
        <p:spPr>
          <a:xfrm>
            <a:off x="2514600" y="5257800"/>
            <a:ext cx="6591302" cy="1200329"/>
          </a:xfrm>
          <a:prstGeom prst="rect">
            <a:avLst/>
          </a:prstGeom>
          <a:noFill/>
        </p:spPr>
        <p:txBody>
          <a:bodyPr wrap="square" rtlCol="0">
            <a:spAutoFit/>
          </a:bodyPr>
          <a:lstStyle/>
          <a:p>
            <a:pPr algn="ctr"/>
            <a:r>
              <a:rPr lang="en-US" dirty="0"/>
              <a:t>   </a:t>
            </a: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DR.R.SANDEEP</a:t>
            </a:r>
          </a:p>
          <a:p>
            <a:pPr algn="ctr"/>
            <a:r>
              <a:rPr lang="en-US" dirty="0">
                <a:latin typeface="Times New Roman" panose="02020603050405020304" pitchFamily="18" charset="0"/>
                <a:cs typeface="Times New Roman" panose="02020603050405020304" pitchFamily="18" charset="0"/>
              </a:rPr>
              <a:t>Associate Professor</a:t>
            </a:r>
          </a:p>
          <a:p>
            <a:pPr algn="ctr"/>
            <a:r>
              <a:rPr lang="en-US" dirty="0">
                <a:latin typeface="Times New Roman" panose="02020603050405020304" pitchFamily="18" charset="0"/>
                <a:cs typeface="Times New Roman" panose="02020603050405020304" pitchFamily="18" charset="0"/>
              </a:rPr>
              <a:t>Dept. of CSE</a:t>
            </a:r>
            <a:endParaRPr lang="en-IN"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2"/>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a:t>
            </a:r>
            <a:endParaRPr lang="en-US" dirty="0"/>
          </a:p>
        </p:txBody>
      </p:sp>
      <p:sp>
        <p:nvSpPr>
          <p:cNvPr id="1048597" name="Content Placeholder 3"/>
          <p:cNvSpPr>
            <a:spLocks noGrp="1"/>
          </p:cNvSpPr>
          <p:nvPr>
            <p:ph idx="1"/>
          </p:nvPr>
        </p:nvSpPr>
        <p:spPr>
          <a:xfrm>
            <a:off x="989330" y="1308100"/>
            <a:ext cx="10213340" cy="4890135"/>
          </a:xfrm>
        </p:spPr>
        <p:txBody>
          <a:bodyPr>
            <a:noAutofit/>
          </a:bodyPr>
          <a:lstStyle/>
          <a:p>
            <a:pPr marL="342900" indent="-342900"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sym typeface="+mn-ea"/>
              </a:rPr>
              <a:t>Traditional paper-based or centralized digital certificates are prone to forgery, tampering, and delays in verification, which can lead to credibility issues and administrative inefficiencies.</a:t>
            </a:r>
          </a:p>
          <a:p>
            <a:pPr marL="342900" indent="-342900"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sym typeface="+mn-ea"/>
              </a:rPr>
              <a:t> This project proposes a Blockchain-based Digital Certificate Generation and Verification System that leverages the decentralized, immutable, and transparent properties of blockchain technology to securely issue, store, and verify digital certificates.</a:t>
            </a:r>
          </a:p>
          <a:p>
            <a:pPr marL="342900" indent="-342900"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sym typeface="+mn-ea"/>
              </a:rPr>
              <a:t> The system allows educational institutions or organizations to generate certificates in a tamper-proof digital format and store them on a blockchain network, ensuring authenticity and preventing fraud. </a:t>
            </a:r>
          </a:p>
          <a:p>
            <a:pPr marL="342900" indent="-342900" algn="just">
              <a:lnSpc>
                <a:spcPct val="150000"/>
              </a:lnSpc>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sym typeface="+mn-ea"/>
              </a:rPr>
              <a:t>Recipients can access, download and share their certificates, while employers or verification authorities can instantly generate and validate the credentials without intermediaries.</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INTRODUCTION</a:t>
            </a:r>
          </a:p>
        </p:txBody>
      </p:sp>
      <p:sp>
        <p:nvSpPr>
          <p:cNvPr id="1048599" name="Content Placeholder 2"/>
          <p:cNvSpPr>
            <a:spLocks noGrp="1"/>
          </p:cNvSpPr>
          <p:nvPr>
            <p:ph idx="1"/>
          </p:nvPr>
        </p:nvSpPr>
        <p:spPr/>
        <p:txBody>
          <a:bodyPr>
            <a:normAutofit fontScale="92500" lnSpcReduction="10000"/>
          </a:bodyPr>
          <a:lstStyle/>
          <a:p>
            <a:pPr algn="just" eaLnBrk="0" fontAlgn="base" hangingPunct="0">
              <a:lnSpc>
                <a:spcPct val="150000"/>
              </a:lnSpc>
              <a:spcBef>
                <a:spcPct val="0"/>
              </a:spcBef>
              <a:spcAft>
                <a:spcPct val="0"/>
              </a:spcAft>
              <a:buAutoNum type="arabicPeriod"/>
            </a:pPr>
            <a:r>
              <a:rPr lang="en-US" altLang="en-US" sz="1800" dirty="0">
                <a:ln>
                  <a:noFill/>
                </a:ln>
                <a:effectLst/>
                <a:latin typeface="Times New Roman" panose="02020603050405020304" pitchFamily="18" charset="0"/>
                <a:cs typeface="Times New Roman" panose="02020603050405020304" pitchFamily="18" charset="0"/>
                <a:sym typeface="+mn-ea"/>
              </a:rPr>
              <a:t>Traditional paper-based and centralized digital certificate systems are prone to forgery, tampering, loss, and slow verification, leading to credibility concerns and administrative inefficiencies.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AutoNum type="arabicPeriod"/>
            </a:pPr>
            <a:r>
              <a:rPr lang="en-US" altLang="en-US" sz="1800" dirty="0">
                <a:ln>
                  <a:noFill/>
                </a:ln>
                <a:effectLst/>
                <a:latin typeface="Times New Roman" panose="02020603050405020304" pitchFamily="18" charset="0"/>
                <a:cs typeface="Times New Roman" panose="02020603050405020304" pitchFamily="18" charset="0"/>
                <a:sym typeface="+mn-ea"/>
              </a:rPr>
              <a:t>Centralized storage also lacks transparency and is vulnerable to security breaches, making it difficult to guarantee the authenticity of issued credentials.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AutoNum type="arabicPeriod"/>
            </a:pPr>
            <a:r>
              <a:rPr lang="en-US" altLang="en-US" sz="1800" dirty="0">
                <a:ln>
                  <a:noFill/>
                </a:ln>
                <a:effectLst/>
                <a:latin typeface="Times New Roman" panose="02020603050405020304" pitchFamily="18" charset="0"/>
                <a:cs typeface="Times New Roman" panose="02020603050405020304" pitchFamily="18" charset="0"/>
                <a:sym typeface="+mn-ea"/>
              </a:rPr>
              <a:t> Blockchain technology provides a secure alternative through its decentralized, immutable, and tamper-resistant structure.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AutoNum type="arabicPeriod"/>
            </a:pPr>
            <a:r>
              <a:rPr lang="en-US" altLang="en-US" sz="1800" dirty="0">
                <a:ln>
                  <a:noFill/>
                </a:ln>
                <a:effectLst/>
                <a:latin typeface="Times New Roman" panose="02020603050405020304" pitchFamily="18" charset="0"/>
                <a:cs typeface="Times New Roman" panose="02020603050405020304" pitchFamily="18" charset="0"/>
                <a:sym typeface="+mn-ea"/>
              </a:rPr>
              <a:t>This project proposes a blockchain-based digital certificate generation and verification system that enables institutions to issue certificates in a secure digital format and store them on a distributed ledger, ensuring that records cannot be altered after issuance.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buAutoNum type="arabicPeriod"/>
            </a:pPr>
            <a:r>
              <a:rPr lang="en-US" altLang="en-US" sz="1800" dirty="0">
                <a:ln>
                  <a:noFill/>
                </a:ln>
                <a:effectLst/>
                <a:latin typeface="Times New Roman" panose="02020603050405020304" pitchFamily="18" charset="0"/>
                <a:cs typeface="Times New Roman" panose="02020603050405020304" pitchFamily="18" charset="0"/>
                <a:sym typeface="+mn-ea"/>
              </a:rPr>
              <a:t>Certificate holders can easily access, download</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a:ln>
                  <a:noFill/>
                </a:ln>
                <a:effectLst/>
                <a:latin typeface="Times New Roman" panose="02020603050405020304" pitchFamily="18" charset="0"/>
                <a:cs typeface="Times New Roman" panose="02020603050405020304" pitchFamily="18" charset="0"/>
                <a:sym typeface="+mn-ea"/>
              </a:rPr>
              <a:t>and share their credentials, while employers and verification authorities can generate and verify authenticity instantly without intermediaries. By leveraging smart contracts and cryptographic hashing, the system enhances security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a:ln>
                  <a:noFill/>
                </a:ln>
                <a:effectLst/>
                <a:latin typeface="Times New Roman" panose="02020603050405020304" pitchFamily="18" charset="0"/>
                <a:cs typeface="Times New Roman" panose="02020603050405020304" pitchFamily="18" charset="0"/>
                <a:sym typeface="+mn-ea"/>
              </a:rPr>
              <a:t>, transparency, and trust in the entire certificate lifecycle.</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lstStyle/>
          <a:p>
            <a:r>
              <a:rPr lang="en-US" sz="3600" b="1">
                <a:latin typeface="Times New Roman" panose="02020603050405020304" pitchFamily="18" charset="0"/>
                <a:cs typeface="Times New Roman" panose="02020603050405020304" pitchFamily="18" charset="0"/>
              </a:rPr>
              <a:t>DOMAIN SPECIFICATION</a:t>
            </a:r>
          </a:p>
        </p:txBody>
      </p:sp>
      <p:sp>
        <p:nvSpPr>
          <p:cNvPr id="1048601" name="Content Placeholder 2"/>
          <p:cNvSpPr>
            <a:spLocks noGrp="1"/>
          </p:cNvSpPr>
          <p:nvPr>
            <p:ph idx="1"/>
          </p:nvPr>
        </p:nvSpPr>
        <p:spPr>
          <a:xfrm>
            <a:off x="993140" y="1060450"/>
            <a:ext cx="10441305" cy="5371465"/>
          </a:xfrm>
        </p:spPr>
        <p:txBody>
          <a:bodyPr>
            <a:noAutofit/>
          </a:bodyPr>
          <a:lstStyle/>
          <a:p>
            <a:pPr marL="0" indent="0">
              <a:lnSpc>
                <a:spcPct val="150000"/>
              </a:lnSpc>
              <a:buNone/>
            </a:pPr>
            <a:r>
              <a:rPr lang="en-US" altLang="en-US" sz="1800" b="1" dirty="0">
                <a:latin typeface="Times New Roman" panose="02020603050405020304" pitchFamily="18" charset="0"/>
                <a:cs typeface="Times New Roman" panose="02020603050405020304" pitchFamily="18" charset="0"/>
                <a:sym typeface="+mn-ea"/>
              </a:rPr>
              <a:t>Blockchain Technology</a:t>
            </a:r>
            <a:endParaRPr lang="en-US" altLang="en-US" sz="1800" b="1" dirty="0">
              <a:latin typeface="Times New Roman" panose="02020603050405020304" pitchFamily="18" charset="0"/>
              <a:cs typeface="Times New Roman" panose="02020603050405020304" pitchFamily="18" charset="0"/>
            </a:endParaRPr>
          </a:p>
          <a:p>
            <a:pPr marL="0" indent="0">
              <a:lnSpc>
                <a:spcPct val="150000"/>
              </a:lnSpc>
              <a:buNone/>
            </a:pPr>
            <a:r>
              <a:rPr lang="en-US" altLang="en-US" sz="1800" dirty="0">
                <a:latin typeface="Times New Roman" panose="02020603050405020304" pitchFamily="18" charset="0"/>
                <a:cs typeface="Times New Roman" panose="02020603050405020304" pitchFamily="18" charset="0"/>
                <a:sym typeface="+mn-ea"/>
              </a:rPr>
              <a:t>A decentralized and immutable digital ledger system that securely records, stores, and verifies data without relying on a central authority.</a:t>
            </a:r>
            <a:endParaRPr lang="en-US" alt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altLang="en-US" sz="1800" dirty="0">
                <a:latin typeface="Times New Roman" panose="02020603050405020304" pitchFamily="18" charset="0"/>
                <a:cs typeface="Times New Roman" panose="02020603050405020304" pitchFamily="18" charset="0"/>
                <a:sym typeface="+mn-ea"/>
              </a:rPr>
              <a:t>Ensures tamper-proof storage of digital certificates through immutable ledger entries.</a:t>
            </a:r>
            <a:endParaRPr lang="en-US" alt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altLang="en-US" sz="1800" dirty="0">
                <a:latin typeface="Times New Roman" panose="02020603050405020304" pitchFamily="18" charset="0"/>
                <a:cs typeface="Times New Roman" panose="02020603050405020304" pitchFamily="18" charset="0"/>
                <a:sym typeface="+mn-ea"/>
              </a:rPr>
              <a:t>Eliminates fraudulent modifications by using cryptographic hashing and distributed consensus.</a:t>
            </a:r>
            <a:endParaRPr lang="en-US" alt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altLang="en-US" sz="1800" dirty="0">
                <a:latin typeface="Times New Roman" panose="02020603050405020304" pitchFamily="18" charset="0"/>
                <a:cs typeface="Times New Roman" panose="02020603050405020304" pitchFamily="18" charset="0"/>
                <a:sym typeface="+mn-ea"/>
              </a:rPr>
              <a:t>Enables instant and reliable generation and verification of certificates by employers or authorities.</a:t>
            </a:r>
            <a:endParaRPr lang="en-US" alt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altLang="en-US" sz="1800" dirty="0">
                <a:latin typeface="Times New Roman" panose="02020603050405020304" pitchFamily="18" charset="0"/>
                <a:cs typeface="Times New Roman" panose="02020603050405020304" pitchFamily="18" charset="0"/>
                <a:sym typeface="+mn-ea"/>
              </a:rPr>
              <a:t>Supports transparent and secure communication between certificate issuers, holders, and verifiers.</a:t>
            </a:r>
            <a:endParaRPr lang="en-US" alt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sym typeface="+mn-ea"/>
              </a:rPr>
              <a:t>Involves:</a:t>
            </a:r>
            <a:endParaRPr lang="en-US" sz="1800" b="1"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Distributed Ledger Technology (DLT)</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Smart Contracts</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Cryptographic Hashing</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Decentralized Storage</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Peer-to-Peer Verification</a:t>
            </a: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sym typeface="+mn-ea"/>
              </a:rPr>
              <a:t>➢ Consensus Mechanisms</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LITERATURE SURVEY</a:t>
            </a:r>
            <a:endParaRPr lang="en-US" sz="4000" dirty="0"/>
          </a:p>
        </p:txBody>
      </p:sp>
      <p:graphicFrame>
        <p:nvGraphicFramePr>
          <p:cNvPr id="5" name="Content Placeholder 4"/>
          <p:cNvGraphicFramePr>
            <a:graphicFrameLocks noGrp="1"/>
          </p:cNvGraphicFramePr>
          <p:nvPr>
            <p:ph idx="1"/>
          </p:nvPr>
        </p:nvGraphicFramePr>
        <p:xfrm>
          <a:off x="609600" y="1600201"/>
          <a:ext cx="10972800" cy="4572001"/>
        </p:xfrm>
        <a:graphic>
          <a:graphicData uri="http://schemas.openxmlformats.org/drawingml/2006/table">
            <a:tbl>
              <a:tblPr firstRow="1" bandRow="1">
                <a:tableStyleId>{00A15C55-8517-42AA-B614-E9B94910E393}</a:tableStyleId>
              </a:tblPr>
              <a:tblGrid>
                <a:gridCol w="1097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987425">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3401695">
                  <a:extLst>
                    <a:ext uri="{9D8B030D-6E8A-4147-A177-3AD203B41FA5}">
                      <a16:colId xmlns:a16="http://schemas.microsoft.com/office/drawing/2014/main" val="20004"/>
                    </a:ext>
                  </a:extLst>
                </a:gridCol>
              </a:tblGrid>
              <a:tr h="528932">
                <a:tc>
                  <a:txBody>
                    <a:bodyPr/>
                    <a:lstStyle/>
                    <a:p>
                      <a:pPr algn="l">
                        <a:buNone/>
                      </a:pPr>
                      <a:r>
                        <a:rPr lang="en-IN" sz="1200" dirty="0"/>
                        <a:t>Sno</a:t>
                      </a:r>
                    </a:p>
                  </a:txBody>
                  <a:tcPr anchor="ctr"/>
                </a:tc>
                <a:tc>
                  <a:txBody>
                    <a:bodyPr/>
                    <a:lstStyle/>
                    <a:p>
                      <a:pPr algn="l">
                        <a:buNone/>
                      </a:pPr>
                      <a:r>
                        <a:rPr lang="en-IN" sz="1200"/>
                        <a:t>Title of the Paper</a:t>
                      </a:r>
                    </a:p>
                  </a:txBody>
                  <a:tcPr anchor="ctr"/>
                </a:tc>
                <a:tc>
                  <a:txBody>
                    <a:bodyPr/>
                    <a:lstStyle/>
                    <a:p>
                      <a:pPr algn="l">
                        <a:buNone/>
                      </a:pPr>
                      <a:r>
                        <a:rPr lang="en-IN" sz="1200"/>
                        <a:t>Year</a:t>
                      </a:r>
                    </a:p>
                  </a:txBody>
                  <a:tcPr anchor="ctr"/>
                </a:tc>
                <a:tc>
                  <a:txBody>
                    <a:bodyPr/>
                    <a:lstStyle/>
                    <a:p>
                      <a:pPr algn="l">
                        <a:buNone/>
                      </a:pPr>
                      <a:r>
                        <a:rPr lang="en-IN" sz="1200" dirty="0"/>
                        <a:t>Authors</a:t>
                      </a:r>
                    </a:p>
                  </a:txBody>
                  <a:tcPr anchor="ctr"/>
                </a:tc>
                <a:tc>
                  <a:txBody>
                    <a:bodyPr/>
                    <a:lstStyle/>
                    <a:p>
                      <a:pPr algn="l">
                        <a:buNone/>
                      </a:pPr>
                      <a:r>
                        <a:rPr lang="en-IN" sz="1200"/>
                        <a:t>Comments</a:t>
                      </a:r>
                    </a:p>
                  </a:txBody>
                  <a:tcPr anchor="ctr"/>
                </a:tc>
                <a:extLst>
                  <a:ext uri="{0D108BD9-81ED-4DB2-BD59-A6C34878D82A}">
                    <a16:rowId xmlns:a16="http://schemas.microsoft.com/office/drawing/2014/main" val="10000"/>
                  </a:ext>
                </a:extLst>
              </a:tr>
              <a:tr h="652108">
                <a:tc>
                  <a:txBody>
                    <a:bodyPr/>
                    <a:lstStyle/>
                    <a:p>
                      <a:pPr algn="l">
                        <a:buNone/>
                      </a:pPr>
                      <a:r>
                        <a:rPr lang="en-IN" sz="1200"/>
                        <a:t>1</a:t>
                      </a:r>
                    </a:p>
                  </a:txBody>
                  <a:tcPr anchor="ctr"/>
                </a:tc>
                <a:tc>
                  <a:txBody>
                    <a:bodyPr/>
                    <a:lstStyle/>
                    <a:p>
                      <a:r>
                        <a:rPr sz="1100"/>
                        <a:t>Blockchain for Secure Academic Certificate Verification</a:t>
                      </a:r>
                    </a:p>
                  </a:txBody>
                  <a:tcPr marL="0" marR="0" marT="0" marB="0" anchor="ctr"/>
                </a:tc>
                <a:tc>
                  <a:txBody>
                    <a:bodyPr/>
                    <a:lstStyle/>
                    <a:p>
                      <a:r>
                        <a:rPr sz="1100"/>
                        <a:t>2020</a:t>
                      </a:r>
                    </a:p>
                  </a:txBody>
                  <a:tcPr marL="0" marR="0" marT="0" marB="0" anchor="ctr"/>
                </a:tc>
                <a:tc>
                  <a:txBody>
                    <a:bodyPr/>
                    <a:lstStyle/>
                    <a:p>
                      <a:r>
                        <a:rPr sz="1100"/>
                        <a:t>Choudhary et al.</a:t>
                      </a:r>
                    </a:p>
                  </a:txBody>
                  <a:tcPr marL="0" marR="0" marT="0" marB="0" anchor="ctr"/>
                </a:tc>
                <a:tc>
                  <a:txBody>
                    <a:bodyPr/>
                    <a:lstStyle/>
                    <a:p>
                      <a:r>
                        <a:rPr sz="1100"/>
                        <a:t>Proposes using blockchain to eliminate certificate forgery and provides a decentralized verification framework for academic credentials.</a:t>
                      </a:r>
                    </a:p>
                  </a:txBody>
                  <a:tcPr marL="0" marR="0" marT="0" marB="0" anchor="ctr"/>
                </a:tc>
                <a:extLst>
                  <a:ext uri="{0D108BD9-81ED-4DB2-BD59-A6C34878D82A}">
                    <a16:rowId xmlns:a16="http://schemas.microsoft.com/office/drawing/2014/main" val="10001"/>
                  </a:ext>
                </a:extLst>
              </a:tr>
              <a:tr h="912951">
                <a:tc>
                  <a:txBody>
                    <a:bodyPr/>
                    <a:lstStyle/>
                    <a:p>
                      <a:pPr algn="l">
                        <a:buNone/>
                      </a:pPr>
                      <a:r>
                        <a:rPr lang="en-IN" sz="1200"/>
                        <a:t>2</a:t>
                      </a:r>
                    </a:p>
                  </a:txBody>
                  <a:tcPr anchor="ctr"/>
                </a:tc>
                <a:tc>
                  <a:txBody>
                    <a:bodyPr/>
                    <a:lstStyle/>
                    <a:p>
                      <a:r>
                        <a:rPr sz="1100"/>
                        <a:t>Decentralized Digital Credential Issuance Using Blockchain</a:t>
                      </a:r>
                    </a:p>
                  </a:txBody>
                  <a:tcPr marL="0" marR="0" marT="0" marB="0" anchor="ctr"/>
                </a:tc>
                <a:tc>
                  <a:txBody>
                    <a:bodyPr/>
                    <a:lstStyle/>
                    <a:p>
                      <a:pPr algn="l">
                        <a:buNone/>
                      </a:pPr>
                      <a:r>
                        <a:rPr lang="en-US" altLang="en-US" sz="1200"/>
                        <a:t>2019</a:t>
                      </a:r>
                    </a:p>
                  </a:txBody>
                  <a:tcPr anchor="ctr"/>
                </a:tc>
                <a:tc>
                  <a:txBody>
                    <a:bodyPr/>
                    <a:lstStyle/>
                    <a:p>
                      <a:r>
                        <a:rPr sz="1100"/>
                        <a:t>Patel &amp; Mehta</a:t>
                      </a:r>
                    </a:p>
                  </a:txBody>
                  <a:tcPr marL="0" marR="0" marT="0" marB="0" anchor="ctr"/>
                </a:tc>
                <a:tc>
                  <a:txBody>
                    <a:bodyPr/>
                    <a:lstStyle/>
                    <a:p>
                      <a:r>
                        <a:rPr sz="1100"/>
                        <a:t>Presents a blockchain-based architecture for issuing tamper-proof digital certificates with an immutable audit trail.</a:t>
                      </a:r>
                    </a:p>
                  </a:txBody>
                  <a:tcPr marL="0" marR="0" marT="0" marB="0" anchor="ctr"/>
                </a:tc>
                <a:extLst>
                  <a:ext uri="{0D108BD9-81ED-4DB2-BD59-A6C34878D82A}">
                    <a16:rowId xmlns:a16="http://schemas.microsoft.com/office/drawing/2014/main" val="10002"/>
                  </a:ext>
                </a:extLst>
              </a:tr>
              <a:tr h="912951">
                <a:tc>
                  <a:txBody>
                    <a:bodyPr/>
                    <a:lstStyle/>
                    <a:p>
                      <a:pPr algn="l">
                        <a:buNone/>
                      </a:pPr>
                      <a:r>
                        <a:rPr lang="en-IN" sz="1200"/>
                        <a:t>3</a:t>
                      </a:r>
                    </a:p>
                  </a:txBody>
                  <a:tcPr anchor="ctr"/>
                </a:tc>
                <a:tc>
                  <a:txBody>
                    <a:bodyPr/>
                    <a:lstStyle/>
                    <a:p>
                      <a:r>
                        <a:rPr sz="1100"/>
                        <a:t>Blockchain-Based Educational Record Authentication System</a:t>
                      </a:r>
                    </a:p>
                  </a:txBody>
                  <a:tcPr marL="0" marR="0" marT="0" marB="0" anchor="ctr"/>
                </a:tc>
                <a:tc>
                  <a:txBody>
                    <a:bodyPr/>
                    <a:lstStyle/>
                    <a:p>
                      <a:pPr algn="l">
                        <a:buNone/>
                      </a:pPr>
                      <a:r>
                        <a:rPr lang="en-US" altLang="en-US" sz="1200"/>
                        <a:t>2021</a:t>
                      </a:r>
                    </a:p>
                  </a:txBody>
                  <a:tcPr anchor="ctr"/>
                </a:tc>
                <a:tc>
                  <a:txBody>
                    <a:bodyPr/>
                    <a:lstStyle/>
                    <a:p>
                      <a:r>
                        <a:rPr sz="1100"/>
                        <a:t>Kumar et al.</a:t>
                      </a:r>
                    </a:p>
                  </a:txBody>
                  <a:tcPr marL="0" marR="0" marT="0" marB="0" anchor="ctr"/>
                </a:tc>
                <a:tc>
                  <a:txBody>
                    <a:bodyPr/>
                    <a:lstStyle/>
                    <a:p>
                      <a:r>
                        <a:rPr sz="1100"/>
                        <a:t>Demonstrates how blockchain ensures transparency and immutability in storing academic records, enabling instant third-party verification.</a:t>
                      </a:r>
                    </a:p>
                  </a:txBody>
                  <a:tcPr marL="0" marR="0" marT="0" marB="0" anchor="ctr"/>
                </a:tc>
                <a:extLst>
                  <a:ext uri="{0D108BD9-81ED-4DB2-BD59-A6C34878D82A}">
                    <a16:rowId xmlns:a16="http://schemas.microsoft.com/office/drawing/2014/main" val="10003"/>
                  </a:ext>
                </a:extLst>
              </a:tr>
              <a:tr h="652108">
                <a:tc>
                  <a:txBody>
                    <a:bodyPr/>
                    <a:lstStyle/>
                    <a:p>
                      <a:pPr algn="l">
                        <a:buNone/>
                      </a:pPr>
                      <a:r>
                        <a:rPr lang="en-IN" sz="1200"/>
                        <a:t>4</a:t>
                      </a:r>
                    </a:p>
                  </a:txBody>
                  <a:tcPr anchor="ctr"/>
                </a:tc>
                <a:tc>
                  <a:txBody>
                    <a:bodyPr/>
                    <a:lstStyle/>
                    <a:p>
                      <a:r>
                        <a:rPr sz="1100"/>
                        <a:t>Secure Document Management and Verification Using Smart Contracts</a:t>
                      </a:r>
                    </a:p>
                  </a:txBody>
                  <a:tcPr marL="0" marR="0" marT="0" marB="0" anchor="ctr"/>
                </a:tc>
                <a:tc>
                  <a:txBody>
                    <a:bodyPr/>
                    <a:lstStyle/>
                    <a:p>
                      <a:pPr algn="l">
                        <a:buNone/>
                      </a:pPr>
                      <a:r>
                        <a:rPr lang="en-US" altLang="en-US" sz="1200"/>
                        <a:t>2018</a:t>
                      </a:r>
                    </a:p>
                  </a:txBody>
                  <a:tcPr anchor="ctr"/>
                </a:tc>
                <a:tc>
                  <a:txBody>
                    <a:bodyPr/>
                    <a:lstStyle/>
                    <a:p>
                      <a:r>
                        <a:rPr sz="1100"/>
                        <a:t>Singh &amp; Roy</a:t>
                      </a:r>
                    </a:p>
                  </a:txBody>
                  <a:tcPr marL="0" marR="0" marT="0" marB="0" anchor="ctr"/>
                </a:tc>
                <a:tc>
                  <a:txBody>
                    <a:bodyPr/>
                    <a:lstStyle/>
                    <a:p>
                      <a:r>
                        <a:rPr sz="1100"/>
                        <a:t>Explores the use of smart contracts to automate certificate issuance and validation, improving security and reducing administrative overhead.</a:t>
                      </a:r>
                    </a:p>
                  </a:txBody>
                  <a:tcPr marL="0" marR="0" marT="0" marB="0" anchor="ctr"/>
                </a:tc>
                <a:extLst>
                  <a:ext uri="{0D108BD9-81ED-4DB2-BD59-A6C34878D82A}">
                    <a16:rowId xmlns:a16="http://schemas.microsoft.com/office/drawing/2014/main" val="10004"/>
                  </a:ext>
                </a:extLst>
              </a:tr>
              <a:tr h="912951">
                <a:tc>
                  <a:txBody>
                    <a:bodyPr/>
                    <a:lstStyle/>
                    <a:p>
                      <a:pPr algn="l">
                        <a:buNone/>
                      </a:pPr>
                      <a:r>
                        <a:rPr lang="en-IN" sz="1200"/>
                        <a:t>5</a:t>
                      </a:r>
                    </a:p>
                  </a:txBody>
                  <a:tcPr anchor="ctr"/>
                </a:tc>
                <a:tc>
                  <a:txBody>
                    <a:bodyPr/>
                    <a:lstStyle/>
                    <a:p>
                      <a:r>
                        <a:rPr sz="1100"/>
                        <a:t>Blockchain Technology for Preventing Certificate Fraud in Higher Education</a:t>
                      </a:r>
                    </a:p>
                  </a:txBody>
                  <a:tcPr marL="0" marR="0" marT="0" marB="0" anchor="ctr"/>
                </a:tc>
                <a:tc>
                  <a:txBody>
                    <a:bodyPr/>
                    <a:lstStyle/>
                    <a:p>
                      <a:pPr algn="l">
                        <a:buNone/>
                      </a:pPr>
                      <a:r>
                        <a:rPr lang="en-US" altLang="en-US" sz="1200"/>
                        <a:t>2022</a:t>
                      </a:r>
                    </a:p>
                  </a:txBody>
                  <a:tcPr anchor="ctr"/>
                </a:tc>
                <a:tc>
                  <a:txBody>
                    <a:bodyPr/>
                    <a:lstStyle/>
                    <a:p>
                      <a:r>
                        <a:rPr sz="1100"/>
                        <a:t>Al-Harbi &amp; Rahman</a:t>
                      </a:r>
                    </a:p>
                  </a:txBody>
                  <a:tcPr marL="0" marR="0" marT="0" marB="0" anchor="ctr"/>
                </a:tc>
                <a:tc>
                  <a:txBody>
                    <a:bodyPr/>
                    <a:lstStyle/>
                    <a:p>
                      <a:pPr algn="l">
                        <a:buNone/>
                      </a:pPr>
                      <a:r>
                        <a:rPr lang="en-US" altLang="en-US" sz="1200" dirty="0"/>
                        <a:t>Reviews real-world implementations of blockchain-based credentialing systems and highlights their efficiency in preventing forgery and tampering.</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0"/>
            <a:ext cx="10972800" cy="1143000"/>
          </a:xfrm>
        </p:spPr>
        <p:txBody>
          <a:bodyPr>
            <a:normAutofit/>
          </a:bodyPr>
          <a:lstStyle/>
          <a:p>
            <a:pPr>
              <a:defRPr/>
            </a:pPr>
            <a:r>
              <a:rPr lang="en-US" sz="4000" b="1" dirty="0">
                <a:latin typeface="Times New Roman" panose="02020603050405020304" pitchFamily="18" charset="0"/>
                <a:cs typeface="Times New Roman" panose="02020603050405020304" pitchFamily="18" charset="0"/>
              </a:rPr>
              <a:t>PROBLEM STATEMENT</a:t>
            </a:r>
          </a:p>
        </p:txBody>
      </p:sp>
      <p:sp>
        <p:nvSpPr>
          <p:cNvPr id="5" name="Content Placeholder 4"/>
          <p:cNvSpPr>
            <a:spLocks noGrp="1"/>
          </p:cNvSpPr>
          <p:nvPr>
            <p:ph idx="1"/>
          </p:nvPr>
        </p:nvSpPr>
        <p:spPr>
          <a:xfrm>
            <a:off x="533400" y="1323975"/>
            <a:ext cx="10972800" cy="4525963"/>
          </a:xfrm>
        </p:spPr>
        <p:txBody>
          <a:bodyPr>
            <a:noAutofit/>
          </a:bodyPr>
          <a:lstStyle/>
          <a:p>
            <a:pPr marL="0" indent="0" algn="just">
              <a:lnSpc>
                <a:spcPct val="150000"/>
              </a:lnSpc>
              <a:buNone/>
            </a:pPr>
            <a:r>
              <a:rPr lang="en-US" altLang="en-US" sz="1800">
                <a:latin typeface="Times New Roman" panose="02020603050405020304" pitchFamily="18" charset="0"/>
                <a:cs typeface="Times New Roman" panose="02020603050405020304" pitchFamily="18" charset="0"/>
                <a:sym typeface="+mn-ea"/>
              </a:rPr>
              <a:t>Traditional certificate issuance and verification processes rely on paper documents or centralized digital systems that are vulnerable to forgery, tampering, and data manipulation. These limitations often lead to credibility issues, administrative delays, and difficulty in verifying the authenticity of credentials. Employers and verification authorities must depend on intermediaries, which increases processing time and operational cost. Students and certificate holders also face challenges in securely storing and sharing their documents. The absence of a unified and tamper-proof verification mechanism results in inefficiencies across academic and professional sectors. Therefore, there is a need for a decentralized, secure, and transparent system that ensures reliable certificate generation and instant verification.</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defRPr/>
            </a:pPr>
            <a:r>
              <a:rPr lang="en-US" sz="4000" b="1" dirty="0">
                <a:latin typeface="Times New Roman" panose="02020603050405020304" pitchFamily="18" charset="0"/>
                <a:cs typeface="Times New Roman" panose="02020603050405020304" pitchFamily="18" charset="0"/>
              </a:rPr>
              <a:t>Existing System</a:t>
            </a:r>
          </a:p>
        </p:txBody>
      </p:sp>
      <p:sp>
        <p:nvSpPr>
          <p:cNvPr id="5" name="Content Placeholder 4"/>
          <p:cNvSpPr>
            <a:spLocks noGrp="1"/>
          </p:cNvSpPr>
          <p:nvPr>
            <p:ph idx="1"/>
          </p:nvPr>
        </p:nvSpPr>
        <p:spPr>
          <a:xfrm>
            <a:off x="1535430" y="1572260"/>
            <a:ext cx="9670415" cy="3687445"/>
          </a:xfrm>
        </p:spPr>
        <p:txBody>
          <a:bodyPr>
            <a:noAutofit/>
          </a:bodyPr>
          <a:lstStyle/>
          <a:p>
            <a:pPr marL="0" indent="0" algn="just">
              <a:lnSpc>
                <a:spcPct val="150000"/>
              </a:lnSpc>
              <a:buNone/>
            </a:pPr>
            <a:r>
              <a:rPr lang="en-US" altLang="en-US" sz="1800">
                <a:latin typeface="Times New Roman" panose="02020603050405020304" pitchFamily="18" charset="0"/>
                <a:cs typeface="Times New Roman" panose="02020603050405020304" pitchFamily="18" charset="0"/>
                <a:sym typeface="+mn-ea"/>
              </a:rPr>
              <a:t>In the existing system, digital or paper-based certificates are typically issued and managed by individual institutions or organizations using centralized databases. Verification of these certificates requires contacting the issuing authority, which is time-consuming and often involves manual processes. Paper certificates are prone to damage, loss, or forgery, while centralized digital systems are vulnerable to hacking, data manipulation, or unauthorized access. There is no universal or tamper-proof method to instantly validate credentials, causing delays for employers, verification agencies, and certificate holders. Moreover, recipients often face difficulties in securely storing and sharing their certificates online. Overall, the current systems lack transparency, security, and efficiency, making them unreliable for modern academic and professional needs.</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DISADVANTAGES OF EXISTING SYSTEM </a:t>
            </a:r>
            <a:endParaRPr lang="en-IN" sz="40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704215" y="1929130"/>
            <a:ext cx="10151110" cy="2584450"/>
          </a:xfrm>
          <a:prstGeom prst="rect">
            <a:avLst/>
          </a:prstGeom>
        </p:spPr>
        <p:txBody>
          <a:bodyPr wrap="square">
            <a:spAutoFit/>
          </a:bodyPr>
          <a:lstStyle/>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Paper-based certificates are prone to loss, damage, and forgery.</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Centralized digital systems are vulnerable to hacking and data manipulation.</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Verification requires contacting the issuing authority, causing delays.</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There is no secure, universal method for instant certificate validation.</a:t>
            </a: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sym typeface="+mn-ea"/>
              </a:rPr>
              <a:t>Recipients face difficulties in safely storing and sharing their credentials.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0" y="38100"/>
            <a:ext cx="10972800" cy="1143000"/>
          </a:xfrm>
        </p:spPr>
        <p:txBody>
          <a:bodyPr>
            <a:normAutofit/>
          </a:bodyPr>
          <a:lstStyle/>
          <a:p>
            <a:pPr>
              <a:defRPr/>
            </a:pPr>
            <a:r>
              <a:rPr lang="en-US" sz="4000" b="1" dirty="0">
                <a:latin typeface="Times New Roman" panose="02020603050405020304" pitchFamily="18" charset="0"/>
                <a:cs typeface="Times New Roman" panose="02020603050405020304" pitchFamily="18" charset="0"/>
              </a:rPr>
              <a:t>PROPOSED SYSTEM</a:t>
            </a:r>
          </a:p>
        </p:txBody>
      </p:sp>
      <p:sp>
        <p:nvSpPr>
          <p:cNvPr id="2" name="Rectangle 1"/>
          <p:cNvSpPr>
            <a:spLocks noChangeArrowheads="1"/>
          </p:cNvSpPr>
          <p:nvPr/>
        </p:nvSpPr>
        <p:spPr bwMode="auto">
          <a:xfrm>
            <a:off x="1000125" y="927100"/>
            <a:ext cx="10460355" cy="5014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indent="0" algn="just">
              <a:lnSpc>
                <a:spcPct val="150000"/>
              </a:lnSpc>
              <a:buNone/>
            </a:pPr>
            <a:r>
              <a:rPr lang="en-US" altLang="en-US">
                <a:latin typeface="Times New Roman" panose="02020603050405020304" pitchFamily="18" charset="0"/>
                <a:cs typeface="Times New Roman" panose="02020603050405020304" pitchFamily="18" charset="0"/>
                <a:sym typeface="+mn-ea"/>
              </a:rPr>
              <a:t>The proposed system is a Blockchain-Based Digital Certificate Generation and Verification System that enables secure, tamper-proof issuance and management of digital certificates. Using blockchain technology, certificates are stored on a decentralized and immutable ledger, ensuring authenticity and preventing forgery or unauthorized modifications. Educational institutions or organizations can generate digital certificates and upload them directly to the blockchain, while recipients can securely access, download, and share their credentials. Employers and verification authorities can instantly verify the authenticity of certificates without relying on intermediaries, reducing delays and administrative workload. The system provides transparency, security, and efficiency, addressing the limitations of traditional paper-based and centralized digital systems.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ADVANTAGES OF PROPOSED SYSTEM </a:t>
            </a:r>
            <a:endParaRPr lang="en-IN" sz="40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835660" y="1417955"/>
            <a:ext cx="11581765" cy="2584450"/>
          </a:xfrm>
          <a:prstGeom prst="rect">
            <a:avLst/>
          </a:prstGeom>
        </p:spPr>
        <p:txBody>
          <a:bodyPr wrap="square">
            <a:spAutoFit/>
          </a:bodyPr>
          <a:lstStyle/>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Provides tamper-proof and secure storage of digital certificates using blockchain.</a:t>
            </a: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Enables instant and reliable verification without intermediaries.</a:t>
            </a: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Reduces administrative workload and verification delays.</a:t>
            </a: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Allows recipients to easily access, download, and share their credentials.</a:t>
            </a:r>
          </a:p>
          <a:p>
            <a:pPr marL="285750" indent="-285750" algn="just">
              <a:lnSpc>
                <a:spcPct val="100000"/>
              </a:lnSpc>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Ensures transparency, authenticity, and fraud prevention in certificate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SYSTEM REQUIREMENTS</a:t>
            </a:r>
            <a:endParaRPr lang="en-IN" sz="4000" b="1"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09600" y="1143000"/>
            <a:ext cx="10972800" cy="4525963"/>
          </a:xfrm>
        </p:spPr>
        <p:txBody>
          <a:bodyPr>
            <a:noAutofit/>
          </a:bodyPr>
          <a:lstStyle/>
          <a:p>
            <a:pPr marL="0" indent="0">
              <a:buNone/>
            </a:pPr>
            <a:r>
              <a:rPr lang="en-US" altLang="en-US" sz="2400" b="1" dirty="0">
                <a:latin typeface="Times New Roman" panose="02020603050405020304" pitchFamily="18" charset="0"/>
                <a:cs typeface="Times New Roman" panose="02020603050405020304" pitchFamily="18" charset="0"/>
              </a:rPr>
              <a:t>Hardware Requirements</a:t>
            </a:r>
          </a:p>
          <a:p>
            <a:r>
              <a:rPr lang="en-US" altLang="en-US" sz="1800" dirty="0">
                <a:latin typeface="Times New Roman" panose="02020603050405020304" pitchFamily="18" charset="0"/>
                <a:cs typeface="Times New Roman" panose="02020603050405020304" pitchFamily="18" charset="0"/>
              </a:rPr>
              <a:t>Processor: Intel i5/i7 or equivalent</a:t>
            </a:r>
          </a:p>
          <a:p>
            <a:r>
              <a:rPr lang="en-US" altLang="en-US" sz="1800" dirty="0">
                <a:latin typeface="Times New Roman" panose="02020603050405020304" pitchFamily="18" charset="0"/>
                <a:cs typeface="Times New Roman" panose="02020603050405020304" pitchFamily="18" charset="0"/>
              </a:rPr>
              <a:t>RAM: 8–16 GB (recommended for model training)</a:t>
            </a:r>
          </a:p>
          <a:p>
            <a:r>
              <a:rPr lang="en-US" altLang="en-US" sz="1800" dirty="0">
                <a:latin typeface="Times New Roman" panose="02020603050405020304" pitchFamily="18" charset="0"/>
                <a:cs typeface="Times New Roman" panose="02020603050405020304" pitchFamily="18" charset="0"/>
              </a:rPr>
              <a:t>Storage: 256 GB SSD or higher</a:t>
            </a:r>
          </a:p>
          <a:p>
            <a:r>
              <a:rPr lang="en-US" altLang="en-US" sz="1800" dirty="0">
                <a:latin typeface="Times New Roman" panose="02020603050405020304" pitchFamily="18" charset="0"/>
                <a:cs typeface="Times New Roman" panose="02020603050405020304" pitchFamily="18" charset="0"/>
              </a:rPr>
              <a:t>GPU (optional but recommended): NVIDIA GPU for faster LSTM training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SYSTEM REQUIREMENTS</a:t>
            </a:r>
            <a:endParaRPr lang="en-IN" sz="4000" b="1"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762000" y="1371923"/>
            <a:ext cx="9792970" cy="3138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indent="0" algn="l" defTabSz="914400" rtl="0" eaLnBrk="0" fontAlgn="base" latinLnBrk="0" hangingPunct="0">
              <a:lnSpc>
                <a:spcPct val="150000"/>
              </a:lnSpc>
              <a:spcBef>
                <a:spcPct val="0"/>
              </a:spcBef>
              <a:spcAft>
                <a:spcPct val="0"/>
              </a:spcAft>
              <a:buClrTx/>
              <a:buSzTx/>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Requirements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 Windows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Version: Python 3.8+</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 Frameworks: Flask , Web3.py (for blockchain interaction), PyCryptodome (for encryption)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 : PyCharm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MySQL</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 Platform:  Hyperledger Fabric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BLOCK DIAGRAM</a:t>
            </a:r>
            <a:endParaRPr lang="en-IN"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105660" y="1228725"/>
            <a:ext cx="8115300" cy="5191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519555" y="1417955"/>
            <a:ext cx="9152890" cy="4661535"/>
          </a:xfrm>
          <a:prstGeom prst="rect">
            <a:avLst/>
          </a:prstGeom>
          <a:noFill/>
        </p:spPr>
        <p:txBody>
          <a:bodyPr wrap="square">
            <a:spAutoFit/>
          </a:bodyPr>
          <a:lstStyle/>
          <a:p>
            <a:pPr>
              <a:lnSpc>
                <a:spcPct val="150000"/>
              </a:lnSpc>
            </a:pPr>
            <a:r>
              <a:rPr lang="en-US" altLang="en-US" dirty="0">
                <a:latin typeface="Times New Roman" panose="02020603050405020304" pitchFamily="18" charset="0"/>
                <a:cs typeface="Times New Roman" panose="02020603050405020304" pitchFamily="18" charset="0"/>
              </a:rPr>
              <a:t>1. User Registration and Authentication Module</a:t>
            </a:r>
          </a:p>
          <a:p>
            <a:pPr>
              <a:lnSpc>
                <a:spcPct val="150000"/>
              </a:lnSpc>
            </a:pPr>
            <a:r>
              <a:rPr lang="en-US" altLang="en-US" dirty="0">
                <a:latin typeface="Times New Roman" panose="02020603050405020304" pitchFamily="18" charset="0"/>
                <a:cs typeface="Times New Roman" panose="02020603050405020304" pitchFamily="18" charset="0"/>
              </a:rPr>
              <a:t>Purpose: Allows institutions, students, and verification authorities to securely register and access the system.</a:t>
            </a:r>
          </a:p>
          <a:p>
            <a:pPr>
              <a:lnSpc>
                <a:spcPct val="150000"/>
              </a:lnSpc>
            </a:pPr>
            <a:r>
              <a:rPr lang="en-US" altLang="en-US" dirty="0">
                <a:latin typeface="Times New Roman" panose="02020603050405020304" pitchFamily="18" charset="0"/>
                <a:cs typeface="Times New Roman" panose="02020603050405020304" pitchFamily="18" charset="0"/>
              </a:rPr>
              <a:t>Key Functions:</a:t>
            </a:r>
          </a:p>
          <a:p>
            <a:pPr>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Registers new users with role-based access (admin/institution/recipient/verifier).</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Implements secure login using hashed passwords and two-factor authentication (optional).</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Maintains user profiles and access privileges.</a:t>
            </a:r>
          </a:p>
          <a:p>
            <a:pPr indent="0">
              <a:lnSpc>
                <a:spcPct val="10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Significance: Ensures that only authorized users can generate, access, or verify certificates, enhancing system security.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583266" y="1558550"/>
            <a:ext cx="8771467" cy="4246245"/>
          </a:xfrm>
          <a:prstGeom prst="rect">
            <a:avLst/>
          </a:prstGeom>
          <a:noFill/>
        </p:spPr>
        <p:txBody>
          <a:bodyPr wrap="square">
            <a:spAutoFit/>
          </a:bodyPr>
          <a:lstStyle/>
          <a:p>
            <a:pPr>
              <a:lnSpc>
                <a:spcPct val="150000"/>
              </a:lnSpc>
            </a:pPr>
            <a:r>
              <a:rPr lang="en-US" altLang="en-US" dirty="0">
                <a:latin typeface="Times New Roman" panose="02020603050405020304" pitchFamily="18" charset="0"/>
                <a:cs typeface="Times New Roman" panose="02020603050405020304" pitchFamily="18" charset="0"/>
              </a:rPr>
              <a:t>2. Certificate Generation Module</a:t>
            </a:r>
          </a:p>
          <a:p>
            <a:pPr>
              <a:lnSpc>
                <a:spcPct val="150000"/>
              </a:lnSpc>
            </a:pPr>
            <a:r>
              <a:rPr lang="en-US" altLang="en-US" dirty="0">
                <a:latin typeface="Times New Roman" panose="02020603050405020304" pitchFamily="18" charset="0"/>
                <a:cs typeface="Times New Roman" panose="02020603050405020304" pitchFamily="18" charset="0"/>
              </a:rPr>
              <a:t>Purpose: Enables institutions to create digital certificates in a secure and tamper-proof format.</a:t>
            </a:r>
          </a:p>
          <a:p>
            <a:pPr>
              <a:lnSpc>
                <a:spcPct val="150000"/>
              </a:lnSpc>
            </a:pPr>
            <a:r>
              <a:rPr lang="en-US" altLang="en-US" dirty="0">
                <a:latin typeface="Times New Roman" panose="02020603050405020304" pitchFamily="18" charset="0"/>
                <a:cs typeface="Times New Roman" panose="02020603050405020304" pitchFamily="18" charset="0"/>
              </a:rPr>
              <a:t>Key Functions:</a:t>
            </a:r>
          </a:p>
          <a:p>
            <a:pPr>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Collects certificate details (name, course, grade, issue date, etc.) from institutions.</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Generates a digital certificate and converts it into a blockchain-compatible format.</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Creates a unique cryptographic hash for each certificate for verification purposes.</a:t>
            </a:r>
          </a:p>
          <a:p>
            <a:pPr indent="0">
              <a:lnSpc>
                <a:spcPct val="10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Significance: Automates certificate creation and ensures authenticity and integrity of each credential.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803399" y="1301517"/>
            <a:ext cx="8060267" cy="4246245"/>
          </a:xfrm>
          <a:prstGeom prst="rect">
            <a:avLst/>
          </a:prstGeom>
          <a:noFill/>
        </p:spPr>
        <p:txBody>
          <a:bodyPr wrap="square">
            <a:spAutoFit/>
          </a:bodyPr>
          <a:lstStyle/>
          <a:p>
            <a:pPr>
              <a:lnSpc>
                <a:spcPct val="150000"/>
              </a:lnSpc>
            </a:pPr>
            <a:r>
              <a:rPr lang="en-US" altLang="en-US" dirty="0">
                <a:latin typeface="Times New Roman" panose="02020603050405020304" pitchFamily="18" charset="0"/>
                <a:cs typeface="Times New Roman" panose="02020603050405020304" pitchFamily="18" charset="0"/>
              </a:rPr>
              <a:t>3. Blockchain Storage Module</a:t>
            </a:r>
          </a:p>
          <a:p>
            <a:pPr>
              <a:lnSpc>
                <a:spcPct val="150000"/>
              </a:lnSpc>
            </a:pPr>
            <a:r>
              <a:rPr lang="en-US" altLang="en-US" dirty="0">
                <a:latin typeface="Times New Roman" panose="02020603050405020304" pitchFamily="18" charset="0"/>
                <a:cs typeface="Times New Roman" panose="02020603050405020304" pitchFamily="18" charset="0"/>
              </a:rPr>
              <a:t>Purpose: Stores generated certificates on a decentralized blockchain network.</a:t>
            </a:r>
          </a:p>
          <a:p>
            <a:pPr>
              <a:lnSpc>
                <a:spcPct val="150000"/>
              </a:lnSpc>
            </a:pPr>
            <a:r>
              <a:rPr lang="en-US" altLang="en-US" dirty="0">
                <a:latin typeface="Times New Roman" panose="02020603050405020304" pitchFamily="18" charset="0"/>
                <a:cs typeface="Times New Roman" panose="02020603050405020304" pitchFamily="18" charset="0"/>
              </a:rPr>
              <a:t>Key Functions:</a:t>
            </a:r>
          </a:p>
          <a:p>
            <a:pPr>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Deploys smart contracts to handle certificate storage and management.</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Records certificate hashes and metadata on the blockchain ledger.</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Ensures immutability and prevents unauthorized modifications.</a:t>
            </a:r>
          </a:p>
          <a:p>
            <a:pPr indent="0">
              <a:lnSpc>
                <a:spcPct val="10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Significance: Provides a tamper-proof, transparent, and permanent record of all issued certificates.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MODULES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411942" y="1275832"/>
            <a:ext cx="7831667" cy="4661535"/>
          </a:xfrm>
          <a:prstGeom prst="rect">
            <a:avLst/>
          </a:prstGeom>
          <a:noFill/>
        </p:spPr>
        <p:txBody>
          <a:bodyPr wrap="square">
            <a:spAutoFit/>
          </a:bodyPr>
          <a:lstStyle/>
          <a:p>
            <a:pPr>
              <a:lnSpc>
                <a:spcPct val="150000"/>
              </a:lnSpc>
            </a:pPr>
            <a:r>
              <a:rPr lang="en-US" altLang="en-US" dirty="0">
                <a:latin typeface="Times New Roman" panose="02020603050405020304" pitchFamily="18" charset="0"/>
                <a:cs typeface="Times New Roman" panose="02020603050405020304" pitchFamily="18" charset="0"/>
              </a:rPr>
              <a:t>4. Certificate Verification Module</a:t>
            </a:r>
          </a:p>
          <a:p>
            <a:pPr>
              <a:lnSpc>
                <a:spcPct val="150000"/>
              </a:lnSpc>
            </a:pPr>
            <a:r>
              <a:rPr lang="en-US" altLang="en-US" dirty="0">
                <a:latin typeface="Times New Roman" panose="02020603050405020304" pitchFamily="18" charset="0"/>
                <a:cs typeface="Times New Roman" panose="02020603050405020304" pitchFamily="18" charset="0"/>
              </a:rPr>
              <a:t>Purpose: Allows employers, verification authorities, or other institutions to validate certificates instantly.</a:t>
            </a:r>
          </a:p>
          <a:p>
            <a:pPr>
              <a:lnSpc>
                <a:spcPct val="150000"/>
              </a:lnSpc>
            </a:pPr>
            <a:r>
              <a:rPr lang="en-US" altLang="en-US" dirty="0">
                <a:latin typeface="Times New Roman" panose="02020603050405020304" pitchFamily="18" charset="0"/>
                <a:cs typeface="Times New Roman" panose="02020603050405020304" pitchFamily="18" charset="0"/>
              </a:rPr>
              <a:t>Key Functions:</a:t>
            </a:r>
          </a:p>
          <a:p>
            <a:pPr>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Accepts certificate hash or QR code from the user.</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Checks the blockchain ledger to confirm authenticity and issuance details.</a:t>
            </a:r>
          </a:p>
          <a:p>
            <a:pPr marL="285750" indent="-285750">
              <a:lnSpc>
                <a:spcPct val="100000"/>
              </a:lnSpc>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Returns verification status in real-time without contacting the issuing institution.</a:t>
            </a:r>
          </a:p>
          <a:p>
            <a:pPr indent="0">
              <a:lnSpc>
                <a:spcPct val="100000"/>
              </a:lnSpc>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Significance: Reduces delays, eliminates intermediaries, and ensures trust in the verification process.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ALGORITHMS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91065" y="976451"/>
            <a:ext cx="11438467" cy="5077460"/>
          </a:xfrm>
          <a:prstGeom prst="rect">
            <a:avLst/>
          </a:prstGeom>
          <a:noFill/>
        </p:spPr>
        <p:txBody>
          <a:bodyPr wrap="square">
            <a:spAutoFit/>
          </a:bodyPr>
          <a:lstStyle/>
          <a:p>
            <a:pPr algn="just">
              <a:lnSpc>
                <a:spcPct val="150000"/>
              </a:lnSpc>
            </a:pPr>
            <a:r>
              <a:rPr lang="en-US" altLang="en-US" dirty="0">
                <a:latin typeface="Times New Roman" panose="02020603050405020304" pitchFamily="18" charset="0"/>
                <a:cs typeface="Times New Roman" panose="02020603050405020304" pitchFamily="18" charset="0"/>
              </a:rPr>
              <a:t>1. Hashing Algorithm</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Hashing Algorithm generates a unique fixed-length cryptographic hash for each digital certificate.</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It ensures data integrity by producing a hash value that changes if even a single detail of the certificate is modified.</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is fundamental for verifying the authenticity of certificates stored on the blockchain.</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2. Public-Key Cryptography Algorithm</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Public-Key Cryptography Algorithm uses a pair of keys (private and public) to secure certificate data.</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issuing institution signs the certificate using a private key, while verifiers use the corresponding public key to confirm authenticity.</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ensures secure, tamper-proof certificate issuance and verification.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ALGORITHMS</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91065" y="976451"/>
            <a:ext cx="11438467" cy="5077460"/>
          </a:xfrm>
          <a:prstGeom prst="rect">
            <a:avLst/>
          </a:prstGeom>
          <a:noFill/>
        </p:spPr>
        <p:txBody>
          <a:bodyPr wrap="square">
            <a:spAutoFit/>
          </a:bodyPr>
          <a:lstStyle/>
          <a:p>
            <a:pPr algn="just">
              <a:lnSpc>
                <a:spcPct val="150000"/>
              </a:lnSpc>
            </a:pPr>
            <a:r>
              <a:rPr lang="en-US" altLang="en-US" dirty="0">
                <a:latin typeface="Times New Roman" panose="02020603050405020304" pitchFamily="18" charset="0"/>
                <a:cs typeface="Times New Roman" panose="02020603050405020304" pitchFamily="18" charset="0"/>
              </a:rPr>
              <a:t>3. Smart Contract Algorithm</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Smart Contracts are self-executing code deployed on the blockchain to automate certificate management.</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They handle certificate issuance, storage, and verification without intermediaries, enforcing rules automatically.</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guarantees transparency, immutability, and reduces administrative overhead.</a:t>
            </a:r>
          </a:p>
          <a:p>
            <a:pPr algn="just">
              <a:lnSpc>
                <a:spcPct val="150000"/>
              </a:lnSpc>
            </a:pPr>
            <a:endParaRPr lang="en-US" altLang="en-US" dirty="0">
              <a:latin typeface="Times New Roman" panose="02020603050405020304" pitchFamily="18" charset="0"/>
              <a:cs typeface="Times New Roman" panose="02020603050405020304" pitchFamily="18" charset="0"/>
            </a:endParaRPr>
          </a:p>
          <a:p>
            <a:pPr algn="just">
              <a:lnSpc>
                <a:spcPct val="150000"/>
              </a:lnSpc>
            </a:pPr>
            <a:r>
              <a:rPr lang="en-US" altLang="en-US" dirty="0">
                <a:latin typeface="Times New Roman" panose="02020603050405020304" pitchFamily="18" charset="0"/>
                <a:cs typeface="Times New Roman" panose="02020603050405020304" pitchFamily="18" charset="0"/>
              </a:rPr>
              <a:t>4. SHA-256 Algorithm</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SHA-256 Algorithm generates a unique 256-bit cryptographic hash for each digital certificate.</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It converts certificate details into a fixed-length hash that changes completely if any data is modified.</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Recipients, employers, or verification authorities can use the hash to instantly verify the authenticity of certificates stored on the blockchain.</a:t>
            </a:r>
          </a:p>
          <a:p>
            <a:pPr marL="285750" indent="-285750" algn="just">
              <a:lnSpc>
                <a:spcPct val="150000"/>
              </a:lnSpc>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ensures data integrity, prevents tampering, and provides a secure, tamper-proof method for certificate verification.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UML DIAGRAMS </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48267" y="968400"/>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Use Case Diagram</a:t>
            </a:r>
          </a:p>
        </p:txBody>
      </p:sp>
      <p:pic>
        <p:nvPicPr>
          <p:cNvPr id="6" name="Picture 5" descr="A screenshot of a chat&#10;&#10;AI-generated content may be incorrect.">
            <a:extLst>
              <a:ext uri="{FF2B5EF4-FFF2-40B4-BE49-F238E27FC236}">
                <a16:creationId xmlns:a16="http://schemas.microsoft.com/office/drawing/2014/main" id="{053DA918-5FD1-7014-93C4-13F9D903F9FD}"/>
              </a:ext>
            </a:extLst>
          </p:cNvPr>
          <p:cNvPicPr>
            <a:picLocks noChangeAspect="1"/>
          </p:cNvPicPr>
          <p:nvPr/>
        </p:nvPicPr>
        <p:blipFill>
          <a:blip r:embed="rId2"/>
          <a:stretch>
            <a:fillRect/>
          </a:stretch>
        </p:blipFill>
        <p:spPr>
          <a:xfrm>
            <a:off x="1415845" y="1599871"/>
            <a:ext cx="8742301" cy="465901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UML DIAGRAMS </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74963" y="1048306"/>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Class Diagram</a:t>
            </a:r>
          </a:p>
        </p:txBody>
      </p:sp>
      <p:pic>
        <p:nvPicPr>
          <p:cNvPr id="2" name="Picture 1" descr="TL8zRzmm3DtzAuWRYdx4GzSCHP0pqjvI1BssEsipFg6oT23fAuAY_xtMMR5bsV4WME-HVEIZxaIHjUzieKOjmTwY25G6MyOEIhYtllvTdz2uyXw56jWJgtaoDIh1PtB4gCOxU0C_YKSyN8_FejGLHNqjzqE8uMy1m_UX5-93TGj7PUFQ4NFOqHAX3erTGknj5cHzQzpRTyM_gBFeBShL"/>
          <p:cNvPicPr>
            <a:picLocks noChangeAspect="1"/>
          </p:cNvPicPr>
          <p:nvPr/>
        </p:nvPicPr>
        <p:blipFill>
          <a:blip r:embed="rId2"/>
          <a:stretch>
            <a:fillRect/>
          </a:stretch>
        </p:blipFill>
        <p:spPr>
          <a:xfrm>
            <a:off x="1617345" y="1417955"/>
            <a:ext cx="7860665" cy="49644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UML DIAGRAMS </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380067" y="1045145"/>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Activity Diagram </a:t>
            </a:r>
          </a:p>
        </p:txBody>
      </p:sp>
      <p:pic>
        <p:nvPicPr>
          <p:cNvPr id="2" name="Picture 1" descr="VL9DRy8m3BtdLrYSuC0VWCFuA6n8Ovk6XhIZrRhKMffKYG6XQVzzQLEsTaZhpNxFh_PxcNb19yTIAs7H1FDK-CHoWOJnuB24CIoqJJ_I0jcC5-WfWoKvuPnJ58BTnGkLIZKoIatcMSa67ks1pLHn3iCzQivYusu4Kf21uJlvaOBmJLP6oFK44n9axQSHloT3BhHxb9Ta_HT-G5-0pRkq"/>
          <p:cNvPicPr>
            <a:picLocks noChangeAspect="1"/>
          </p:cNvPicPr>
          <p:nvPr/>
        </p:nvPicPr>
        <p:blipFill>
          <a:blip r:embed="rId2"/>
          <a:stretch>
            <a:fillRect/>
          </a:stretch>
        </p:blipFill>
        <p:spPr>
          <a:xfrm>
            <a:off x="3710305" y="1045210"/>
            <a:ext cx="5304790" cy="54248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UML DIAGRAMS </a:t>
            </a:r>
            <a:endParaRPr lang="en-IN" sz="40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09600" y="858851"/>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Sequence Diagram</a:t>
            </a:r>
          </a:p>
        </p:txBody>
      </p:sp>
      <p:pic>
        <p:nvPicPr>
          <p:cNvPr id="5" name="Picture 4" descr="TLDDRzim3BthLn0zx384knV8K3jQjm3PLYJxEBCobmYr9K-YW_tyqQgcM4XsC_KUoVT8-Y4o1fw6Nh7bdk10loToXa1RF0OSO0LjxysBEQ5riA70zfSro0GVoL50jjx16_X18RtFeL9es0Teki6w_BqdOqTBZdFyogUWr8XIKa1q37S_wHcQSUnpfJl0ECSrwOO87n9Lefgwa7wWSBQ6"/>
          <p:cNvPicPr>
            <a:picLocks noChangeAspect="1"/>
          </p:cNvPicPr>
          <p:nvPr/>
        </p:nvPicPr>
        <p:blipFill>
          <a:blip r:embed="rId2"/>
          <a:stretch>
            <a:fillRect/>
          </a:stretch>
        </p:blipFill>
        <p:spPr>
          <a:xfrm>
            <a:off x="2164715" y="1228090"/>
            <a:ext cx="7902575" cy="544004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UML DIAGRAMS </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8" name="TextBox 7"/>
          <p:cNvSpPr txBox="1"/>
          <p:nvPr/>
        </p:nvSpPr>
        <p:spPr>
          <a:xfrm>
            <a:off x="838200" y="846138"/>
            <a:ext cx="6096000"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Deployment Diagram</a:t>
            </a:r>
          </a:p>
        </p:txBody>
      </p:sp>
      <p:pic>
        <p:nvPicPr>
          <p:cNvPr id="5" name="Picture 4" descr="ZLFDIiD04BxlKmmvwQ6l86qDIa5K2EfvkfcsIvFPC3jHYlZkDYw5jRiMZvdlPxvymyw3ekZOTqQTTWGr3Pq_zCGAjSEjO0ypM7RUxkqE7SCjYRgDiwW4pI4ezN3L-8r-e10ySNUuDePzIr2zqHeMmz1DNESP6f9taWe-3G20zVtWULfJtObd9MxXPLMTOqkq-mbQF1-nhvFrlsmNe-v-"/>
          <p:cNvPicPr>
            <a:picLocks noChangeAspect="1"/>
          </p:cNvPicPr>
          <p:nvPr/>
        </p:nvPicPr>
        <p:blipFill>
          <a:blip r:embed="rId2"/>
          <a:stretch>
            <a:fillRect/>
          </a:stretch>
        </p:blipFill>
        <p:spPr>
          <a:xfrm>
            <a:off x="2524760" y="1152525"/>
            <a:ext cx="6609715" cy="56470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3C83C-6F3F-5F85-2048-84992A74EA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B1CB8C-CF70-F775-5CB5-6B1107D9F566}"/>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BDFCFAFF-E113-920D-A273-667500358D34}"/>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 name="Image 13">
            <a:extLst>
              <a:ext uri="{FF2B5EF4-FFF2-40B4-BE49-F238E27FC236}">
                <a16:creationId xmlns:a16="http://schemas.microsoft.com/office/drawing/2014/main" id="{49EA6E83-D663-4F90-CCCF-4E7A94844B0B}"/>
              </a:ext>
            </a:extLst>
          </p:cNvPr>
          <p:cNvPicPr>
            <a:picLocks/>
          </p:cNvPicPr>
          <p:nvPr/>
        </p:nvPicPr>
        <p:blipFill>
          <a:blip r:embed="rId2" cstate="print"/>
          <a:stretch>
            <a:fillRect/>
          </a:stretch>
        </p:blipFill>
        <p:spPr>
          <a:xfrm>
            <a:off x="3146322" y="1887793"/>
            <a:ext cx="6866153" cy="3577887"/>
          </a:xfrm>
          <a:prstGeom prst="rect">
            <a:avLst/>
          </a:prstGeom>
        </p:spPr>
      </p:pic>
    </p:spTree>
    <p:extLst>
      <p:ext uri="{BB962C8B-B14F-4D97-AF65-F5344CB8AC3E}">
        <p14:creationId xmlns:p14="http://schemas.microsoft.com/office/powerpoint/2010/main" val="10727718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2B8B1-56A4-8A70-ED5C-1075058C54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55B39C-4314-4808-D4EF-3FB3036E2FE6}"/>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C39289E4-32EA-A7CD-54FE-B633307C15AA}"/>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Image 14">
            <a:extLst>
              <a:ext uri="{FF2B5EF4-FFF2-40B4-BE49-F238E27FC236}">
                <a16:creationId xmlns:a16="http://schemas.microsoft.com/office/drawing/2014/main" id="{38D44220-A146-D19A-E11F-10F26B24D4C6}"/>
              </a:ext>
            </a:extLst>
          </p:cNvPr>
          <p:cNvPicPr>
            <a:picLocks/>
          </p:cNvPicPr>
          <p:nvPr/>
        </p:nvPicPr>
        <p:blipFill>
          <a:blip r:embed="rId2" cstate="print"/>
          <a:stretch>
            <a:fillRect/>
          </a:stretch>
        </p:blipFill>
        <p:spPr>
          <a:xfrm>
            <a:off x="4523112" y="1419199"/>
            <a:ext cx="4483236" cy="4019601"/>
          </a:xfrm>
          <a:prstGeom prst="rect">
            <a:avLst/>
          </a:prstGeom>
        </p:spPr>
      </p:pic>
    </p:spTree>
    <p:extLst>
      <p:ext uri="{BB962C8B-B14F-4D97-AF65-F5344CB8AC3E}">
        <p14:creationId xmlns:p14="http://schemas.microsoft.com/office/powerpoint/2010/main" val="1244666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5BB36-C8CC-F94A-58AE-CCB788840B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F2911F-94AE-F4CE-6C22-33E1D973FD83}"/>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6D74CEE3-F2B9-F535-FF11-98C70F3103A7}"/>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 name="Image 15">
            <a:extLst>
              <a:ext uri="{FF2B5EF4-FFF2-40B4-BE49-F238E27FC236}">
                <a16:creationId xmlns:a16="http://schemas.microsoft.com/office/drawing/2014/main" id="{F9EE9DBD-CF01-91F7-A5DA-59888E826687}"/>
              </a:ext>
            </a:extLst>
          </p:cNvPr>
          <p:cNvPicPr>
            <a:picLocks/>
          </p:cNvPicPr>
          <p:nvPr/>
        </p:nvPicPr>
        <p:blipFill>
          <a:blip r:embed="rId2" cstate="print"/>
          <a:stretch>
            <a:fillRect/>
          </a:stretch>
        </p:blipFill>
        <p:spPr>
          <a:xfrm>
            <a:off x="3957484" y="1443780"/>
            <a:ext cx="4581832" cy="3970439"/>
          </a:xfrm>
          <a:prstGeom prst="rect">
            <a:avLst/>
          </a:prstGeom>
        </p:spPr>
      </p:pic>
    </p:spTree>
    <p:extLst>
      <p:ext uri="{BB962C8B-B14F-4D97-AF65-F5344CB8AC3E}">
        <p14:creationId xmlns:p14="http://schemas.microsoft.com/office/powerpoint/2010/main" val="25156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BA934-B9C1-5B32-3631-97AE48A831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102973D-3AA3-12DE-22AA-E7296FBE136C}"/>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DCE8E7CD-F46D-A550-574C-5F14081C4075}"/>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Image 16">
            <a:extLst>
              <a:ext uri="{FF2B5EF4-FFF2-40B4-BE49-F238E27FC236}">
                <a16:creationId xmlns:a16="http://schemas.microsoft.com/office/drawing/2014/main" id="{CF6E5043-A729-C2F8-D610-AACC0921F5E5}"/>
              </a:ext>
            </a:extLst>
          </p:cNvPr>
          <p:cNvPicPr>
            <a:picLocks/>
          </p:cNvPicPr>
          <p:nvPr/>
        </p:nvPicPr>
        <p:blipFill>
          <a:blip r:embed="rId2" cstate="print"/>
          <a:stretch>
            <a:fillRect/>
          </a:stretch>
        </p:blipFill>
        <p:spPr>
          <a:xfrm>
            <a:off x="2261419" y="1631210"/>
            <a:ext cx="6539681" cy="2836333"/>
          </a:xfrm>
          <a:prstGeom prst="rect">
            <a:avLst/>
          </a:prstGeom>
        </p:spPr>
      </p:pic>
    </p:spTree>
    <p:extLst>
      <p:ext uri="{BB962C8B-B14F-4D97-AF65-F5344CB8AC3E}">
        <p14:creationId xmlns:p14="http://schemas.microsoft.com/office/powerpoint/2010/main" val="2032735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B4F74-E9ED-C317-BAE7-4FE27C4026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F82AAE-B9B0-80EA-900E-225C987D830D}"/>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BB7873D8-E5B9-F4DD-657F-7D8CD6A5177B}"/>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 name="Image 17">
            <a:extLst>
              <a:ext uri="{FF2B5EF4-FFF2-40B4-BE49-F238E27FC236}">
                <a16:creationId xmlns:a16="http://schemas.microsoft.com/office/drawing/2014/main" id="{988FFE89-8AE5-2384-7419-9BB221FC21B2}"/>
              </a:ext>
            </a:extLst>
          </p:cNvPr>
          <p:cNvPicPr>
            <a:picLocks/>
          </p:cNvPicPr>
          <p:nvPr/>
        </p:nvPicPr>
        <p:blipFill>
          <a:blip r:embed="rId2" cstate="print"/>
          <a:stretch>
            <a:fillRect/>
          </a:stretch>
        </p:blipFill>
        <p:spPr>
          <a:xfrm>
            <a:off x="3697202" y="1537610"/>
            <a:ext cx="4123795" cy="3477977"/>
          </a:xfrm>
          <a:prstGeom prst="rect">
            <a:avLst/>
          </a:prstGeom>
        </p:spPr>
      </p:pic>
    </p:spTree>
    <p:extLst>
      <p:ext uri="{BB962C8B-B14F-4D97-AF65-F5344CB8AC3E}">
        <p14:creationId xmlns:p14="http://schemas.microsoft.com/office/powerpoint/2010/main" val="2765482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9A53F-9463-A93D-EB1B-528D685DBC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E88BC0-394C-47CD-15DD-9ECE43C98212}"/>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9B23764E-21AC-39B3-65A5-B23F55FA05FC}"/>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Image 19">
            <a:extLst>
              <a:ext uri="{FF2B5EF4-FFF2-40B4-BE49-F238E27FC236}">
                <a16:creationId xmlns:a16="http://schemas.microsoft.com/office/drawing/2014/main" id="{42432D30-3765-8C78-6BEB-4CCF74E32B87}"/>
              </a:ext>
            </a:extLst>
          </p:cNvPr>
          <p:cNvPicPr>
            <a:picLocks/>
          </p:cNvPicPr>
          <p:nvPr/>
        </p:nvPicPr>
        <p:blipFill>
          <a:blip r:embed="rId2" cstate="print"/>
          <a:stretch>
            <a:fillRect/>
          </a:stretch>
        </p:blipFill>
        <p:spPr>
          <a:xfrm>
            <a:off x="4001730" y="1563329"/>
            <a:ext cx="4003398" cy="3589379"/>
          </a:xfrm>
          <a:prstGeom prst="rect">
            <a:avLst/>
          </a:prstGeom>
        </p:spPr>
      </p:pic>
    </p:spTree>
    <p:extLst>
      <p:ext uri="{BB962C8B-B14F-4D97-AF65-F5344CB8AC3E}">
        <p14:creationId xmlns:p14="http://schemas.microsoft.com/office/powerpoint/2010/main" val="935333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22E16-510F-8E2C-42CD-A242DA2B1A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739148-6EB0-CB6F-988B-B2B8041E70D9}"/>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RESULT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75B3516D-4D63-A06A-BE67-CA1E3F51828E}"/>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 name="Image 21">
            <a:extLst>
              <a:ext uri="{FF2B5EF4-FFF2-40B4-BE49-F238E27FC236}">
                <a16:creationId xmlns:a16="http://schemas.microsoft.com/office/drawing/2014/main" id="{6C7136DD-F9F8-11D4-B844-C816B2C87D47}"/>
              </a:ext>
            </a:extLst>
          </p:cNvPr>
          <p:cNvPicPr>
            <a:picLocks/>
          </p:cNvPicPr>
          <p:nvPr/>
        </p:nvPicPr>
        <p:blipFill>
          <a:blip r:embed="rId2" cstate="print"/>
          <a:stretch>
            <a:fillRect/>
          </a:stretch>
        </p:blipFill>
        <p:spPr>
          <a:xfrm>
            <a:off x="3468052" y="1589405"/>
            <a:ext cx="5255895" cy="3679190"/>
          </a:xfrm>
          <a:prstGeom prst="rect">
            <a:avLst/>
          </a:prstGeom>
        </p:spPr>
      </p:pic>
    </p:spTree>
    <p:extLst>
      <p:ext uri="{BB962C8B-B14F-4D97-AF65-F5344CB8AC3E}">
        <p14:creationId xmlns:p14="http://schemas.microsoft.com/office/powerpoint/2010/main" val="3930300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163E1-6481-20C9-6529-BF1B940CD8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A74E36-C7CA-E85C-F8D5-4796B64E019A}"/>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37B83D93-74B0-F91C-9107-208961591F62}"/>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5" name="TextBox 4">
            <a:extLst>
              <a:ext uri="{FF2B5EF4-FFF2-40B4-BE49-F238E27FC236}">
                <a16:creationId xmlns:a16="http://schemas.microsoft.com/office/drawing/2014/main" id="{530CE969-B8DA-07CB-8556-6F69FDB74341}"/>
              </a:ext>
            </a:extLst>
          </p:cNvPr>
          <p:cNvSpPr txBox="1"/>
          <p:nvPr/>
        </p:nvSpPr>
        <p:spPr>
          <a:xfrm>
            <a:off x="471948" y="1209368"/>
            <a:ext cx="10972800" cy="3331938"/>
          </a:xfrm>
          <a:prstGeom prst="rect">
            <a:avLst/>
          </a:prstGeom>
          <a:noFill/>
        </p:spPr>
        <p:txBody>
          <a:bodyPr wrap="square" rtlCol="0">
            <a:spAutoFit/>
          </a:bodyPr>
          <a:lstStyle/>
          <a:p>
            <a:pPr algn="just">
              <a:lnSpc>
                <a:spcPct val="200000"/>
              </a:lnSpc>
            </a:pPr>
            <a:r>
              <a:rPr lang="en-US" dirty="0">
                <a:latin typeface="Times New Roman" panose="02020603050405020304" pitchFamily="18" charset="0"/>
                <a:cs typeface="Times New Roman" panose="02020603050405020304" pitchFamily="18" charset="0"/>
              </a:rPr>
              <a:t>The Blockchain-Based Digital Certificate Generation and Verification System provides a secure, efficient, and tamper-proof solution for issuing and verifying academic certificates. By leveraging blockchain technology, cryptographic hashing, and QR-based verification, the system eliminates certificate forgery and reduces verification delays. The system is scalable, user-friendly, and suitable for educational institutions and organizations seeking secure digital certification solutions.</a:t>
            </a:r>
            <a:endParaRPr lang="en-IN" dirty="0">
              <a:latin typeface="Times New Roman" panose="02020603050405020304" pitchFamily="18" charset="0"/>
              <a:cs typeface="Times New Roman" panose="02020603050405020304" pitchFamily="18" charset="0"/>
            </a:endParaRPr>
          </a:p>
          <a:p>
            <a:pPr algn="just">
              <a:lnSpc>
                <a:spcPct val="2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1586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424F-B305-8888-3AB3-82FA6AE870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02E23B-BC01-E05E-049D-B8144F384FD0}"/>
              </a:ext>
            </a:extLst>
          </p:cNvPr>
          <p:cNvSpPr txBox="1"/>
          <p:nvPr/>
        </p:nvSpPr>
        <p:spPr>
          <a:xfrm>
            <a:off x="609600" y="274638"/>
            <a:ext cx="109728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altLang="en-US" sz="4000" b="1" dirty="0">
                <a:latin typeface="Times New Roman" panose="02020603050405020304" pitchFamily="18" charset="0"/>
                <a:cs typeface="Times New Roman" panose="02020603050405020304" pitchFamily="18" charset="0"/>
              </a:rPr>
              <a:t>Future Enhancement</a:t>
            </a:r>
            <a:endParaRPr lang="en-IN" sz="4000" b="1" dirty="0">
              <a:latin typeface="Times New Roman" panose="02020603050405020304" pitchFamily="18" charset="0"/>
              <a:cs typeface="Times New Roman" panose="02020603050405020304" pitchFamily="18" charset="0"/>
            </a:endParaRPr>
          </a:p>
        </p:txBody>
      </p:sp>
      <p:sp>
        <p:nvSpPr>
          <p:cNvPr id="2" name="AutoShape 2" descr="PlantUML diagram">
            <a:extLst>
              <a:ext uri="{FF2B5EF4-FFF2-40B4-BE49-F238E27FC236}">
                <a16:creationId xmlns:a16="http://schemas.microsoft.com/office/drawing/2014/main" id="{8A888479-F7D1-FBFC-B014-3B787DB80E70}"/>
              </a:ext>
            </a:extLst>
          </p:cNvPr>
          <p:cNvSpPr>
            <a:spLocks noChangeAspect="1" noChangeArrowheads="1"/>
          </p:cNvSpPr>
          <p:nvPr/>
        </p:nvSpPr>
        <p:spPr bwMode="auto">
          <a:xfrm>
            <a:off x="3412067" y="3276599"/>
            <a:ext cx="2836333" cy="28363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TextBox 2">
            <a:extLst>
              <a:ext uri="{FF2B5EF4-FFF2-40B4-BE49-F238E27FC236}">
                <a16:creationId xmlns:a16="http://schemas.microsoft.com/office/drawing/2014/main" id="{800F56D3-E886-5019-11AB-A7B8093A646F}"/>
              </a:ext>
            </a:extLst>
          </p:cNvPr>
          <p:cNvSpPr txBox="1"/>
          <p:nvPr/>
        </p:nvSpPr>
        <p:spPr>
          <a:xfrm>
            <a:off x="521110" y="1258529"/>
            <a:ext cx="11189109"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with Smart Contracts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Smart contracts can be enhanced to automate certificate issuance, revocation, and expiration based on predefined rules, reducing manual intervention.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Interoperability Across Blockchains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can be extended to support multiple blockchain platforms, enabling cross-institution and cross-network certificate verification.</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Biometric-Based Identity Verification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Adding biometric authentication (fingerprint or facial recognition) can further strengthen the identity verification of certificate holders.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Scalability and Performance Optimization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Implementing layer-2 solutions or sidechains can improve transaction speed and reduce costs for large-scale certificate issuance.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Mobile Application Support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Developing a secure mobile app would allow users to easily access, share, and verify certificates anytime using QR codes or blockchain links.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8607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91886"/>
            <a:ext cx="9144000" cy="58565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TotalTime>
  <Words>1945</Words>
  <Application>Microsoft Office PowerPoint</Application>
  <PresentationFormat>Widescreen</PresentationFormat>
  <Paragraphs>219</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Times New Roman</vt:lpstr>
      <vt:lpstr>Office Theme</vt:lpstr>
      <vt:lpstr>           SIDDARTHA INSTITUTE OF SCIENCE AND TECHNOLOGY (AUTONOMOUS)</vt:lpstr>
      <vt:lpstr>ABSTRACT</vt:lpstr>
      <vt:lpstr>INTRODUCTION</vt:lpstr>
      <vt:lpstr>DOMAIN SPECIFICATION</vt:lpstr>
      <vt:lpstr>LITERATURE SURVEY</vt:lpstr>
      <vt:lpstr>PROBLEM STATEMENT</vt:lpstr>
      <vt:lpstr>Existing System</vt:lpstr>
      <vt:lpstr>PowerPoint Presentation</vt:lpstr>
      <vt:lpstr>PROPOSED SYSTEM</vt:lpstr>
      <vt:lpstr>PowerPoint Presentation</vt:lpstr>
      <vt:lpstr>SYSTEM REQUIREMENTS</vt:lpstr>
      <vt:lpstr>SYSTEM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Chandu</dc:creator>
  <cp:lastModifiedBy>T Dani Akash</cp:lastModifiedBy>
  <cp:revision>16</cp:revision>
  <dcterms:created xsi:type="dcterms:W3CDTF">2006-08-16T00:00:00Z</dcterms:created>
  <dcterms:modified xsi:type="dcterms:W3CDTF">2026-01-02T07:22:13Z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665BB52561CE4016A402A9A7D9136B4B_13</vt:lpwstr>
  </property>
  <property fmtid="{D5CDD505-2E9C-101B-9397-08002B2CF9AE}" pid="3" name="KSOProductBuildVer">
    <vt:lpwstr>1033-12.2.0.23155</vt:lpwstr>
  </property>
</Properties>
</file>